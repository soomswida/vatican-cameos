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DE7008-0297-4017-AC1A-7C444911D278}">
  <a:tblStyle styleId="{E2DE7008-0297-4017-AC1A-7C444911D2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c943c206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c943c206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c943c206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c943c206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c943c206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c943c206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c943c206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c943c206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c943c206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c943c206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c943c206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c943c206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c943c206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c943c206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c943c206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c943c206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.jpg"/><Relationship Id="rId6" Type="http://schemas.openxmlformats.org/officeDocument/2006/relationships/image" Target="../media/image2.jpg"/><Relationship Id="rId7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Vatican Cameos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 Voice-Triggered Emergency Detection on Android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4320375"/>
            <a:ext cx="60234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Mobile Computing and Its Application, Spring 2026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981300" y="4252575"/>
            <a:ext cx="18510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Kim, Kyoheon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 and Usage Scenario</a:t>
            </a:r>
            <a:endParaRPr b="1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4170900" cy="21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4E13"/>
                </a:solidFill>
              </a:rPr>
              <a:t>The Gap</a:t>
            </a:r>
            <a:endParaRPr b="1"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Existing </a:t>
            </a:r>
            <a:r>
              <a:rPr lang="en" sz="1400"/>
              <a:t>emergency solutions fail when the user cannot physically interact with the device.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Wearables require active use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Phone calls require visible interaction</a:t>
            </a:r>
            <a:endParaRPr sz="1400"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4661400" y="1152475"/>
            <a:ext cx="4170900" cy="21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4E13"/>
                </a:solidFill>
              </a:rPr>
              <a:t>Target Scenarios</a:t>
            </a:r>
            <a:endParaRPr b="1"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8761D"/>
                </a:solidFill>
              </a:rPr>
              <a:t>Distance Access </a:t>
            </a:r>
            <a:endParaRPr b="1" sz="14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User is incapacitated but within voice range of phone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8761D"/>
                </a:solidFill>
              </a:rPr>
              <a:t>Covert Signaling</a:t>
            </a:r>
            <a:endParaRPr b="1" sz="1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Hostile environment where overt phone use is unsafe(robbery, assault) </a:t>
            </a:r>
            <a:endParaRPr sz="1400"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21441" y="3473650"/>
            <a:ext cx="8520600" cy="12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4E13"/>
                </a:solidFill>
              </a:rPr>
              <a:t>Solution</a:t>
            </a:r>
            <a:endParaRPr b="1"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Detect pre-designated voice keywords entirely on-device → auto-dispatch emergency alert services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Idea: Three-Layer Progressive Activation</a:t>
            </a:r>
            <a:endParaRPr b="1"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952500" y="295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{E2DE7008-0297-4017-AC1A-7C444911D278}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Layer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Threshold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Sensor Freq.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 Size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DEFAULT(L1)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 kHz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Smallest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Minimize FN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IDLE(L2)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 kHz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Middle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Balanced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STANDBY(L3)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 kHz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Biggest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Minimize FP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" name="Google Shape;72;p15"/>
          <p:cNvSpPr/>
          <p:nvPr/>
        </p:nvSpPr>
        <p:spPr>
          <a:xfrm>
            <a:off x="236288" y="1444163"/>
            <a:ext cx="1415700" cy="681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2894513" y="1444163"/>
            <a:ext cx="1415700" cy="681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IDLE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5552738" y="1444163"/>
            <a:ext cx="1415700" cy="681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STANDBY</a:t>
            </a:r>
            <a:endParaRPr/>
          </a:p>
        </p:txBody>
      </p:sp>
      <p:cxnSp>
        <p:nvCxnSpPr>
          <p:cNvPr id="75" name="Google Shape;75;p15"/>
          <p:cNvCxnSpPr>
            <a:stCxn id="72" idx="3"/>
            <a:endCxn id="73" idx="1"/>
          </p:cNvCxnSpPr>
          <p:nvPr/>
        </p:nvCxnSpPr>
        <p:spPr>
          <a:xfrm>
            <a:off x="1651988" y="1784963"/>
            <a:ext cx="1242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5"/>
          <p:cNvCxnSpPr>
            <a:stCxn id="73" idx="3"/>
            <a:endCxn id="74" idx="1"/>
          </p:cNvCxnSpPr>
          <p:nvPr/>
        </p:nvCxnSpPr>
        <p:spPr>
          <a:xfrm>
            <a:off x="4310213" y="1784963"/>
            <a:ext cx="1242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5"/>
          <p:cNvCxnSpPr>
            <a:stCxn id="73" idx="2"/>
          </p:cNvCxnSpPr>
          <p:nvPr/>
        </p:nvCxnSpPr>
        <p:spPr>
          <a:xfrm flipH="1">
            <a:off x="3600563" y="2125763"/>
            <a:ext cx="1800" cy="40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5"/>
          <p:cNvCxnSpPr/>
          <p:nvPr/>
        </p:nvCxnSpPr>
        <p:spPr>
          <a:xfrm flipH="1">
            <a:off x="6259688" y="2125763"/>
            <a:ext cx="1800" cy="40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5"/>
          <p:cNvCxnSpPr/>
          <p:nvPr/>
        </p:nvCxnSpPr>
        <p:spPr>
          <a:xfrm flipH="1">
            <a:off x="925901" y="2519026"/>
            <a:ext cx="5348700" cy="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5"/>
          <p:cNvCxnSpPr>
            <a:stCxn id="72" idx="2"/>
          </p:cNvCxnSpPr>
          <p:nvPr/>
        </p:nvCxnSpPr>
        <p:spPr>
          <a:xfrm flipH="1">
            <a:off x="940238" y="2125763"/>
            <a:ext cx="39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1" name="Google Shape;81;p15"/>
          <p:cNvSpPr/>
          <p:nvPr/>
        </p:nvSpPr>
        <p:spPr>
          <a:xfrm>
            <a:off x="8210979" y="1444175"/>
            <a:ext cx="621300" cy="6816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📢</a:t>
            </a: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6968438" y="1784963"/>
            <a:ext cx="1242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5"/>
          <p:cNvSpPr txBox="1"/>
          <p:nvPr/>
        </p:nvSpPr>
        <p:spPr>
          <a:xfrm>
            <a:off x="1651988" y="1362075"/>
            <a:ext cx="11610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L1 Keyword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310213" y="1362075"/>
            <a:ext cx="11610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L2 Keyword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7009200" y="1362075"/>
            <a:ext cx="11610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L3 Keyword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App Functionality and Architecture</a:t>
            </a:r>
            <a:endParaRPr b="1"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4778925" y="1152475"/>
            <a:ext cx="4170900" cy="3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4E13"/>
                </a:solidFill>
              </a:rPr>
              <a:t>Key Features</a:t>
            </a:r>
            <a:endParaRPr b="1">
              <a:solidFill>
                <a:srgbClr val="274E13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Always-on mic via Foreground Service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Layer-aware audio-pipeline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Per-layer TFLite interpreter with model swap on state transition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HW interrupt (STOP button) at any state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Fully offline — No network required for detection</a:t>
            </a:r>
            <a:endParaRPr sz="1400"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187875" y="1152475"/>
            <a:ext cx="4170900" cy="3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4E13"/>
                </a:solidFill>
              </a:rPr>
              <a:t>Architecture</a:t>
            </a:r>
            <a:endParaRPr b="1"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MainActivity  (front-end)</a:t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↓</a:t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SafewordService (back-end)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AudioPipeline: Mic → 1 sec PCM → log-mel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KeywordClassifier: Inference per layer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SafewordStateMachine: </a:t>
            </a:r>
            <a:r>
              <a:rPr lang="en" sz="1400"/>
              <a:t>Transition / Timeouts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EmergencyDispatcher: Auto-dial + SMS + GPS</a:t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 Optimization</a:t>
            </a:r>
            <a:endParaRPr b="1"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11700" y="1152475"/>
            <a:ext cx="404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Pytorch FP32 ⇨ ONNX ⇨ TFLite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4778925" y="1152475"/>
            <a:ext cx="4170900" cy="3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4E13"/>
                </a:solidFill>
              </a:rPr>
              <a:t>Journey and Lessons</a:t>
            </a:r>
            <a:endParaRPr b="1"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38761D"/>
                </a:solidFill>
              </a:rPr>
              <a:t>INT8 Attempt</a:t>
            </a:r>
            <a:r>
              <a:rPr b="1" lang="en" sz="1400">
                <a:solidFill>
                  <a:srgbClr val="38761D"/>
                </a:solidFill>
              </a:rPr>
              <a:t> </a:t>
            </a:r>
            <a:endParaRPr b="1" sz="14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3.8x compression but onnx2tf quantizing made the quantized model’s metadata incompatible with TFLite Android Runtime.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38761D"/>
                </a:solidFill>
              </a:rPr>
              <a:t>Float16 Attempt</a:t>
            </a:r>
            <a:endParaRPr b="1" sz="1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BATCH_MATMUL kernel rejected FP16 (Android limitation)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8761D"/>
                </a:solidFill>
              </a:rPr>
              <a:t>Float32 Deployed</a:t>
            </a:r>
            <a:endParaRPr b="1" sz="1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Stable inference path among given options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</p:txBody>
      </p:sp>
      <p:graphicFrame>
        <p:nvGraphicFramePr>
          <p:cNvPr id="100" name="Google Shape;100;p17"/>
          <p:cNvGraphicFramePr/>
          <p:nvPr/>
        </p:nvGraphicFramePr>
        <p:xfrm>
          <a:off x="39052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{E2DE7008-0297-4017-AC1A-7C444911D278}</a:tableStyleId>
              </a:tblPr>
              <a:tblGrid>
                <a:gridCol w="990625"/>
                <a:gridCol w="990625"/>
                <a:gridCol w="990625"/>
                <a:gridCol w="990625"/>
              </a:tblGrid>
              <a:tr h="48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Layer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FP32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(trained)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INT8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(attempted)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FP32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</a:t>
                      </a:r>
                      <a:r>
                        <a:rPr lang="en" sz="1200"/>
                        <a:t>deployed</a:t>
                      </a:r>
                      <a:r>
                        <a:rPr lang="en" sz="1200"/>
                        <a:t>)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1.56 MB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 MB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1.56 MB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2.67 MB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 MB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2.67 MB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8.53 MB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2.20 MB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8.53 MB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12.8 MB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3.4 MB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12.8 MB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Demo</a:t>
            </a:r>
            <a:endParaRPr b="1"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198750" y="113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8" title="Screenshot_20260601_193952_Vatican Cameo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5950" y="1122538"/>
            <a:ext cx="1749300" cy="3751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 title="Screenshot_20260601_193929_Vatican Cameo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749" y="1122550"/>
            <a:ext cx="1749300" cy="3751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 title="Screenshot_20260601_193936_Vatican Cameo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8050" y="1122550"/>
            <a:ext cx="1749300" cy="3751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 title="Screenshot_20260601_193941_Vatican Cameos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7350" y="1122555"/>
            <a:ext cx="1749300" cy="3751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 title="Screenshot_20260601_193948_Vatican Cameos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46650" y="1122550"/>
            <a:ext cx="1749300" cy="3751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Accuracy Discussion</a:t>
            </a:r>
            <a:endParaRPr b="1"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End-to-end pipeline is functional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Valid probability distributions generated per frame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But The models biased </a:t>
            </a:r>
            <a:r>
              <a:rPr b="1" lang="en">
                <a:solidFill>
                  <a:srgbClr val="38761D"/>
                </a:solidFill>
              </a:rPr>
              <a:t>toward _silence under mic input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Seems It is caused by several reasons like: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Train-Deployment Distribution Shift (Noisy Env.)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Log-Mel Transformation Issue.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I’m still trying to fix it!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Timeline</a:t>
            </a:r>
            <a:r>
              <a:rPr b="1" lang="en"/>
              <a:t> </a:t>
            </a:r>
            <a:endParaRPr b="1"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-5/25: Baseline MobileNet-V2 + App Skeleton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-5/30: Kotlin Mel Extractor + TFLite Exportation + Model Integration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-6/1: Testing + UI Polishing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1734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